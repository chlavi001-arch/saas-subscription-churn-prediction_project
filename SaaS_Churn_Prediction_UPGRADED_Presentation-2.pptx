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SaaS Subscription Churn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Science Internship Project</a:t>
            </a:r>
          </a:p>
          <a:p>
            <a:r>
              <a:t>Naviotech Solution Pvt. Ltd.</a:t>
            </a:r>
          </a:p>
          <a:p>
            <a:r>
              <a:t>Prepared by: Lavi Chaudhary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Business problem: SaaS companies lose recurring revenue when subscribers churn.</a:t>
            </a:r>
          </a:p>
          <a:p>
            <a:pPr>
              <a:spcAft>
                <a:spcPts val="1000"/>
              </a:spcAft>
              <a:defRPr sz="1800"/>
            </a:pPr>
            <a:r>
              <a:t>Goal: predict customers who are likely to churn before cancellation.</a:t>
            </a:r>
          </a:p>
          <a:p>
            <a:pPr>
              <a:spcAft>
                <a:spcPts val="1000"/>
              </a:spcAft>
              <a:defRPr sz="1800"/>
            </a:pPr>
            <a:r>
              <a:t>Category: Binary Classification.</a:t>
            </a:r>
          </a:p>
          <a:p>
            <a:pPr>
              <a:spcAft>
                <a:spcPts val="1000"/>
              </a:spcAft>
              <a:defRPr sz="1800"/>
            </a:pPr>
            <a:r>
              <a:t>Dataset: 1,500 synthetic customer records.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Build an early-warning machine-learning system for customer churn.</a:t>
            </a:r>
          </a:p>
          <a:p>
            <a:pPr>
              <a:spcAft>
                <a:spcPts val="1000"/>
              </a:spcAft>
              <a:defRPr sz="1800"/>
            </a:pPr>
            <a:r>
              <a:t>Use subscription, engagement, support, satisfaction and payment signals.</a:t>
            </a:r>
          </a:p>
          <a:p>
            <a:pPr>
              <a:spcAft>
                <a:spcPts val="1000"/>
              </a:spcAft>
              <a:defRPr sz="1800"/>
            </a:pPr>
            <a:r>
              <a:t>Prioritize recall/F1 because missing an at-risk customer can be costly.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Explore churn patterns.</a:t>
            </a:r>
          </a:p>
          <a:p>
            <a:pPr>
              <a:spcAft>
                <a:spcPts val="1000"/>
              </a:spcAft>
              <a:defRPr sz="1800"/>
            </a:pPr>
            <a:r>
              <a:t>Preprocess numerical and categorical variables.</a:t>
            </a:r>
          </a:p>
          <a:p>
            <a:pPr>
              <a:spcAft>
                <a:spcPts val="1000"/>
              </a:spcAft>
              <a:defRPr sz="1800"/>
            </a:pPr>
            <a:r>
              <a:t>Train Logistic Regression and Random Forest.</a:t>
            </a:r>
          </a:p>
          <a:p>
            <a:pPr>
              <a:spcAft>
                <a:spcPts val="1000"/>
              </a:spcAft>
              <a:defRPr sz="1800"/>
            </a:pPr>
            <a:r>
              <a:t>Evaluate accuracy, precision, recall, F1 and ROC-AUC.</a:t>
            </a:r>
          </a:p>
          <a:p>
            <a:pPr>
              <a:spcAft>
                <a:spcPts val="1000"/>
              </a:spcAft>
              <a:defRPr sz="1800"/>
            </a:pPr>
            <a:r>
              <a:t>Produce actionable retention recommendations.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Dataset &amp;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1,500 customer records; synthetic educational data.</a:t>
            </a:r>
          </a:p>
          <a:p>
            <a:pPr>
              <a:spcAft>
                <a:spcPts val="1000"/>
              </a:spcAft>
              <a:defRPr sz="1800"/>
            </a:pPr>
            <a:r>
              <a:t>Subscription: plan, contract, auto-renewal, trial status.</a:t>
            </a:r>
          </a:p>
          <a:p>
            <a:pPr>
              <a:spcAft>
                <a:spcPts val="1000"/>
              </a:spcAft>
              <a:defRPr sz="1800"/>
            </a:pPr>
            <a:r>
              <a:t>Engagement: logins, active days, features used.</a:t>
            </a:r>
          </a:p>
          <a:p>
            <a:pPr>
              <a:spcAft>
                <a:spcPts val="1000"/>
              </a:spcAft>
              <a:defRPr sz="1800"/>
            </a:pPr>
            <a:r>
              <a:t>Support: tickets, resolution time, satisfaction.</a:t>
            </a:r>
          </a:p>
          <a:p>
            <a:pPr>
              <a:spcAft>
                <a:spcPts val="1000"/>
              </a:spcAft>
              <a:defRPr sz="1800"/>
            </a:pPr>
            <a:r>
              <a:t>Billing: revenue, payment failures, discounts.</a:t>
            </a:r>
          </a:p>
          <a:p>
            <a:pPr>
              <a:spcAft>
                <a:spcPts val="1000"/>
              </a:spcAft>
              <a:defRPr sz="1800"/>
            </a:pPr>
            <a:r>
              <a:t>Target: churn (1 = churned, 0 = retained).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Observed churn rate: 9.80%.</a:t>
            </a:r>
          </a:p>
          <a:p>
            <a:pPr>
              <a:spcAft>
                <a:spcPts val="1000"/>
              </a:spcAft>
              <a:defRPr sz="1800"/>
            </a:pPr>
            <a:r>
              <a:t>Churn is imbalanced, so accuracy alone is not sufficient.</a:t>
            </a:r>
          </a:p>
          <a:p>
            <a:pPr>
              <a:spcAft>
                <a:spcPts val="1000"/>
              </a:spcAft>
              <a:defRPr sz="1800"/>
            </a:pPr>
            <a:r>
              <a:t>Churn rates were compared by plan, contract type and acquisition channel.</a:t>
            </a:r>
          </a:p>
        </p:txBody>
      </p:sp>
      <p:pic>
        <p:nvPicPr>
          <p:cNvPr id="5" name="Picture 4" descr="chur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43000"/>
            <a:ext cx="5166360" cy="36902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Churn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Monthly contracts show higher churn risk than longer commitments in the generated data.</a:t>
            </a:r>
          </a:p>
          <a:p>
            <a:pPr>
              <a:spcAft>
                <a:spcPts val="1000"/>
              </a:spcAft>
              <a:defRPr sz="1800"/>
            </a:pPr>
            <a:r>
              <a:t>Lower engagement and satisfaction are associated with increased churn risk.</a:t>
            </a:r>
          </a:p>
          <a:p>
            <a:pPr>
              <a:spcAft>
                <a:spcPts val="1000"/>
              </a:spcAft>
              <a:defRPr sz="1800"/>
            </a:pPr>
            <a:r>
              <a:t>Payment failures and support burden are useful warning signals.</a:t>
            </a:r>
          </a:p>
        </p:txBody>
      </p:sp>
      <p:pic>
        <p:nvPicPr>
          <p:cNvPr id="5" name="Picture 4" descr="churn_by_con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43000"/>
            <a:ext cx="5166360" cy="32289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Numerical values: median imputation + standard scaling.</a:t>
            </a:r>
          </a:p>
          <a:p>
            <a:pPr>
              <a:spcAft>
                <a:spcPts val="1000"/>
              </a:spcAft>
              <a:defRPr sz="1800"/>
            </a:pPr>
            <a:r>
              <a:t>Categorical values: most-frequent imputation + one-hot encoding.</a:t>
            </a:r>
          </a:p>
          <a:p>
            <a:pPr>
              <a:spcAft>
                <a:spcPts val="1000"/>
              </a:spcAft>
              <a:defRPr sz="1800"/>
            </a:pPr>
            <a:r>
              <a:t>Train/test split: 80/20 with stratification.</a:t>
            </a:r>
          </a:p>
          <a:p>
            <a:pPr>
              <a:spcAft>
                <a:spcPts val="1000"/>
              </a:spcAft>
              <a:defRPr sz="1800"/>
            </a:pPr>
            <a:r>
              <a:t>Class weighting used to address imbalance.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Machine Learning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Logistic Regression: interpretable probability-based baseline.</a:t>
            </a:r>
          </a:p>
          <a:p>
            <a:pPr>
              <a:spcAft>
                <a:spcPts val="1000"/>
              </a:spcAft>
              <a:defRPr sz="1800"/>
            </a:pPr>
            <a:r>
              <a:t>Random Forest: non-linear ensemble comparison.</a:t>
            </a:r>
          </a:p>
          <a:p>
            <a:pPr>
              <a:spcAft>
                <a:spcPts val="1000"/>
              </a:spcAft>
              <a:defRPr sz="1800"/>
            </a:pPr>
            <a:r>
              <a:t>Metrics: Accuracy, Precision, Recall, F1 and ROC-AUC.</a:t>
            </a:r>
          </a:p>
          <a:p>
            <a:pPr>
              <a:spcAft>
                <a:spcPts val="1000"/>
              </a:spcAft>
              <a:defRPr sz="1800"/>
            </a:pPr>
            <a:r>
              <a:t>Business selection focuses on detecting churners, not only maximizing accuracy.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Logistic Regression — Accuracy 0.707, Recall 0.690, F1 0.312, AUC 0.767.</a:t>
            </a:r>
          </a:p>
          <a:p>
            <a:pPr>
              <a:spcAft>
                <a:spcPts val="1000"/>
              </a:spcAft>
              <a:defRPr sz="1800"/>
            </a:pPr>
            <a:r>
              <a:t>Random Forest — Accuracy 0.903, Recall 0.034, F1 0.065, AUC 0.747.</a:t>
            </a:r>
          </a:p>
          <a:p>
            <a:pPr>
              <a:spcAft>
                <a:spcPts val="1000"/>
              </a:spcAft>
              <a:defRPr sz="1800"/>
            </a:pPr>
            <a:r>
              <a:t>Random Forest has higher accuracy but very low recall at the default threshold.</a:t>
            </a:r>
          </a:p>
          <a:p>
            <a:pPr>
              <a:spcAft>
                <a:spcPts val="1000"/>
              </a:spcAft>
              <a:defRPr sz="1800"/>
            </a:pPr>
            <a:r>
              <a:t>Logistic Regression is more useful for the churn-screening objective.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Threshold 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Default threshold: 0.50.</a:t>
            </a:r>
          </a:p>
          <a:p>
            <a:pPr>
              <a:spcAft>
                <a:spcPts val="1000"/>
              </a:spcAft>
              <a:defRPr sz="1800"/>
            </a:pPr>
            <a:r>
              <a:t>Selected Logistic Regression threshold: 0.77.</a:t>
            </a:r>
          </a:p>
          <a:p>
            <a:pPr>
              <a:spcAft>
                <a:spcPts val="1000"/>
              </a:spcAft>
              <a:defRPr sz="1800"/>
            </a:pPr>
            <a:r>
              <a:t>Tuned results — Accuracy 0.873, Precision 0.345, Recall 0.345, F1 0.345.</a:t>
            </a:r>
          </a:p>
          <a:p>
            <a:pPr>
              <a:spcAft>
                <a:spcPts val="1000"/>
              </a:spcAft>
              <a:defRPr sz="1800"/>
            </a:pPr>
            <a:r>
              <a:t>Threshold tuning increases the model's ability to flag potential churners.</a:t>
            </a:r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43000"/>
            <a:ext cx="5166360" cy="469669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Contract type and auto-renewal are strong churn signals.</a:t>
            </a:r>
          </a:p>
          <a:p>
            <a:pPr>
              <a:spcAft>
                <a:spcPts val="1000"/>
              </a:spcAft>
              <a:defRPr sz="1800"/>
            </a:pPr>
            <a:r>
              <a:t>Low engagement and satisfaction indicate higher risk.</a:t>
            </a:r>
          </a:p>
          <a:p>
            <a:pPr>
              <a:spcAft>
                <a:spcPts val="1000"/>
              </a:spcAft>
              <a:defRPr sz="1800"/>
            </a:pPr>
            <a:r>
              <a:t>Payment failures and support issues can precede churn.</a:t>
            </a:r>
          </a:p>
          <a:p>
            <a:pPr>
              <a:spcAft>
                <a:spcPts val="1000"/>
              </a:spcAft>
              <a:defRPr sz="1800"/>
            </a:pPr>
            <a:r>
              <a:t>Model probabilities can support targeted customer-success outreach.</a:t>
            </a:r>
          </a:p>
        </p:txBody>
      </p:sp>
      <p:pic>
        <p:nvPicPr>
          <p:cNvPr id="5" name="Picture 4" descr="feature_sign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43000"/>
            <a:ext cx="5166360" cy="4018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Business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Create a high-risk customer queue.</a:t>
            </a:r>
          </a:p>
          <a:p>
            <a:pPr>
              <a:spcAft>
                <a:spcPts val="1000"/>
              </a:spcAft>
              <a:defRPr sz="1800"/>
            </a:pPr>
            <a:r>
              <a:t>Run re-engagement campaigns for low-activity customers.</a:t>
            </a:r>
          </a:p>
          <a:p>
            <a:pPr>
              <a:spcAft>
                <a:spcPts val="1000"/>
              </a:spcAft>
              <a:defRPr sz="1800"/>
            </a:pPr>
            <a:r>
              <a:t>Recover failed payments quickly.</a:t>
            </a:r>
          </a:p>
          <a:p>
            <a:pPr>
              <a:spcAft>
                <a:spcPts val="1000"/>
              </a:spcAft>
              <a:defRPr sz="1800"/>
            </a:pPr>
            <a:r>
              <a:t>Escalate unresolved support issues.</a:t>
            </a:r>
          </a:p>
          <a:p>
            <a:pPr>
              <a:spcAft>
                <a:spcPts val="1000"/>
              </a:spcAft>
              <a:defRPr sz="1800"/>
            </a:pPr>
            <a:r>
              <a:t>Encourage longer-term plans through value-based offers.</a:t>
            </a:r>
          </a:p>
          <a:p>
            <a:pPr>
              <a:spcAft>
                <a:spcPts val="1000"/>
              </a:spcAft>
              <a:defRPr sz="1800"/>
            </a:pPr>
            <a:r>
              <a:t>Monitor model precision/recall after deployment.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13. 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Synthetic dataset; not a production benchmark.</a:t>
            </a:r>
          </a:p>
          <a:p>
            <a:pPr>
              <a:spcAft>
                <a:spcPts val="1000"/>
              </a:spcAft>
              <a:defRPr sz="1800"/>
            </a:pPr>
            <a:r>
              <a:t>Use real anonymised SaaS data for deployment.</a:t>
            </a:r>
          </a:p>
          <a:p>
            <a:pPr>
              <a:spcAft>
                <a:spcPts val="1000"/>
              </a:spcAft>
              <a:defRPr sz="1800"/>
            </a:pPr>
            <a:r>
              <a:t>Use cross-validation and a separate validation set for threshold tuning.</a:t>
            </a:r>
          </a:p>
          <a:p>
            <a:pPr>
              <a:spcAft>
                <a:spcPts val="1000"/>
              </a:spcAft>
              <a:defRPr sz="1800"/>
            </a:pPr>
            <a:r>
              <a:t>Future: SHAP explainability, hyperparameter tuning, calibration, drift monitoring and dashboard/API deployment.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14.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The project delivers an end-to-end churn prediction workflow.</a:t>
            </a:r>
          </a:p>
          <a:p>
            <a:pPr>
              <a:spcAft>
                <a:spcPts val="1000"/>
              </a:spcAft>
              <a:defRPr sz="1800"/>
            </a:pPr>
            <a:r>
              <a:t>Logistic Regression provides an interpretable churn-risk score.</a:t>
            </a:r>
          </a:p>
          <a:p>
            <a:pPr>
              <a:spcAft>
                <a:spcPts val="1000"/>
              </a:spcAft>
              <a:defRPr sz="1800"/>
            </a:pPr>
            <a:r>
              <a:t>Threshold tuning makes the classifier more aligned with an early-warning use case.</a:t>
            </a:r>
          </a:p>
          <a:p>
            <a:pPr>
              <a:spcAft>
                <a:spcPts val="1000"/>
              </a:spcAft>
              <a:defRPr sz="1800"/>
            </a:pPr>
            <a:r>
              <a:t>Data-driven churn alerts can help SaaS teams focus retention resources.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15. 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Thank you</a:t>
            </a:r>
          </a:p>
          <a:p>
            <a:pPr>
              <a:spcAft>
                <a:spcPts val="1000"/>
              </a:spcAft>
              <a:defRPr sz="1800"/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